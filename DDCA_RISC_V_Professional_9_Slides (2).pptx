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DBD6"/>
                </a:solidFill>
                <a:latin typeface="Aptos"/>
              </a:rPr>
              <a:t>DIGITAL DESIGN &amp; COMPUTER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498079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From Logic Gates
to a Working RISC-V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6060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AE5EF"/>
                </a:solidFill>
                <a:latin typeface="Aptos"/>
              </a:rPr>
              <a:t>A concise overview of all six DDCA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0058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EDBD6"/>
                </a:solidFill>
                <a:latin typeface="Aptos"/>
              </a:rPr>
              <a:t>THE BUILD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554480"/>
            <a:ext cx="2606040" cy="530352"/>
          </a:xfrm>
          <a:prstGeom prst="roundRect">
            <a:avLst/>
          </a:prstGeom>
          <a:solidFill>
            <a:srgbClr val="1E3D60"/>
          </a:solidFill>
          <a:ln>
            <a:solidFill>
              <a:srgbClr val="3F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673352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BITS &amp; LOGIC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528048" y="2093976"/>
            <a:ext cx="384048" cy="246888"/>
          </a:xfrm>
          <a:prstGeom prst="down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58200" y="2377440"/>
            <a:ext cx="2606040" cy="530352"/>
          </a:xfrm>
          <a:prstGeom prst="roundRect">
            <a:avLst/>
          </a:prstGeom>
          <a:solidFill>
            <a:srgbClr val="1E3D60"/>
          </a:solidFill>
          <a:ln>
            <a:solidFill>
              <a:srgbClr val="3F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496312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COMBINATIONAL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528048" y="2916936"/>
            <a:ext cx="384048" cy="246888"/>
          </a:xfrm>
          <a:prstGeom prst="down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58200" y="3200400"/>
            <a:ext cx="2606040" cy="530352"/>
          </a:xfrm>
          <a:prstGeom prst="roundRect">
            <a:avLst/>
          </a:prstGeom>
          <a:solidFill>
            <a:srgbClr val="1E3D60"/>
          </a:solidFill>
          <a:ln>
            <a:solidFill>
              <a:srgbClr val="3F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3319272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SEQUENTIAL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528048" y="3739896"/>
            <a:ext cx="384048" cy="246888"/>
          </a:xfrm>
          <a:prstGeom prst="down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0" y="4023360"/>
            <a:ext cx="2606040" cy="530352"/>
          </a:xfrm>
          <a:prstGeom prst="roundRect">
            <a:avLst/>
          </a:prstGeom>
          <a:solidFill>
            <a:srgbClr val="1E3D60"/>
          </a:solidFill>
          <a:ln>
            <a:solidFill>
              <a:srgbClr val="3F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4142232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MEMORY + ISA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528048" y="4562856"/>
            <a:ext cx="384048" cy="246888"/>
          </a:xfrm>
          <a:prstGeom prst="down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58200" y="4846320"/>
            <a:ext cx="2606040" cy="530352"/>
          </a:xfrm>
          <a:prstGeom prst="roundRect">
            <a:avLst/>
          </a:prstGeom>
          <a:solidFill>
            <a:srgbClr val="1E3D60"/>
          </a:solidFill>
          <a:ln>
            <a:solidFill>
              <a:srgbClr val="3F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4965192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WORKING CPU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11AB87-E281-6EF7-1DB7-120209BD5BB8}"/>
              </a:ext>
            </a:extLst>
          </p:cNvPr>
          <p:cNvSpPr txBox="1"/>
          <p:nvPr/>
        </p:nvSpPr>
        <p:spPr>
          <a:xfrm>
            <a:off x="943203" y="3900252"/>
            <a:ext cx="32965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</a:t>
            </a:r>
            <a:r>
              <a:rPr lang="en-US" dirty="0"/>
              <a:t>::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JAYA SINDHURA- 2620030140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SAHASRA -2620030108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TANMIAYEE-2620030092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VIJAY VARMA-2620030119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8B"/>
                </a:solidFill>
                <a:latin typeface="Aptos"/>
              </a:rPr>
              <a:t>MODULES 1–2 • FOUNDATIONS &amp; COMBINATIONAL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B4B"/>
                </a:solidFill>
                <a:latin typeface="Aptos"/>
              </a:rPr>
              <a:t>Start with bits, then design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07184"/>
                </a:solidFill>
                <a:latin typeface="Aptos"/>
              </a:rPr>
              <a:t>Digital systems represent information in binary and transform inputs through logic circuits.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58368" cy="4572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184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4008" cy="19202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48920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B4B"/>
                </a:solidFill>
                <a:latin typeface="Aptos"/>
              </a:rPr>
              <a:t>Module 1 — The machine &amp; its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4892040" cy="1362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F3E"/>
                </a:solidFill>
                <a:latin typeface="Aptos"/>
              </a:rPr>
              <a:t>• Computer: input → process → store → output
• Binary / hexadecimal, unsigned values and two’s complement
• Addition, subtraction, overflow and Boolean laws
• Gates: AND, OR, NOT, NAND, NOR, XOR and XNOR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64008" cy="1920240"/>
          </a:xfrm>
          <a:prstGeom prst="rect">
            <a:avLst/>
          </a:prstGeom>
          <a:solidFill>
            <a:srgbClr val="2A5B8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30552"/>
            <a:ext cx="48920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B4B"/>
                </a:solidFill>
                <a:latin typeface="Aptos"/>
              </a:rPr>
              <a:t>Module 2 — Combinational circuits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96312"/>
            <a:ext cx="4892040" cy="1362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F3E"/>
                </a:solidFill>
                <a:latin typeface="Aptos"/>
              </a:rPr>
              <a:t>• Truth tables, Boolean expressions and K-maps
• Half/full adders, multiplexers and decoders
• Comparators and arithmetic-logic unit (ALU)
• Verify circuits in Logisim / Digital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10561320" cy="8686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636008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B4B"/>
                </a:solidFill>
                <a:latin typeface="Aptos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9432"/>
            <a:ext cx="8869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Build and test small circuits that implement clear Boolean functions.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46520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7184"/>
                </a:solidFill>
                <a:latin typeface="Aptos"/>
              </a:rPr>
              <a:t>DDCA • RISC-V CPU learning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8B"/>
                </a:solidFill>
                <a:latin typeface="Aptos"/>
              </a:rPr>
              <a:t>MODULE 3 • SEQUENTIAL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B4B"/>
                </a:solidFill>
                <a:latin typeface="Aptos"/>
              </a:rPr>
              <a:t>Give circuits a memory of their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07184"/>
                </a:solidFill>
                <a:latin typeface="Aptos"/>
              </a:rPr>
              <a:t>Sequential circuits store state, so behavior depends on both current inputs and previous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58368" cy="4572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184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64008" cy="18288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30632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B4B"/>
                </a:solidFill>
                <a:latin typeface="Aptos"/>
              </a:rPr>
              <a:t>Storage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3063240" cy="1271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Latches and flip-flops hold one bit of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057400"/>
            <a:ext cx="64008" cy="1828800"/>
          </a:xfrm>
          <a:prstGeom prst="rect">
            <a:avLst/>
          </a:prstGeom>
          <a:solidFill>
            <a:srgbClr val="2A5B8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30632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B4B"/>
                </a:solidFill>
                <a:latin typeface="Aptos"/>
              </a:rPr>
              <a:t>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063240" cy="1271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Clock signals coordinate when registers and other state elements update.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2057400"/>
            <a:ext cx="64008" cy="1828800"/>
          </a:xfrm>
          <a:prstGeom prst="rect">
            <a:avLst/>
          </a:prstGeom>
          <a:solidFill>
            <a:srgbClr val="DAA441"/>
          </a:solidFill>
          <a:ln>
            <a:solidFill>
              <a:srgbClr val="DA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176272"/>
            <a:ext cx="30632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B4B"/>
                </a:solidFill>
                <a:latin typeface="Aptos"/>
              </a:rPr>
              <a:t>Larger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542032"/>
            <a:ext cx="3063240" cy="1271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Registers, counters and finite-state machines (FSMs).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34840"/>
            <a:ext cx="10287000" cy="868680"/>
          </a:xfrm>
          <a:prstGeom prst="roundRect">
            <a:avLst/>
          </a:prstGeom>
          <a:solidFill>
            <a:srgbClr val="EFF5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700016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B4B"/>
                </a:solidFill>
                <a:latin typeface="Aptos"/>
              </a:rPr>
              <a:t>Key distinction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672584"/>
            <a:ext cx="79552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Combinational logic computes; sequential logic computes and remembers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46520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7184"/>
                </a:solidFill>
                <a:latin typeface="Aptos"/>
              </a:rPr>
              <a:t>DDCA • RISC-V CPU learning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8B"/>
                </a:solidFill>
                <a:latin typeface="Aptos"/>
              </a:rPr>
              <a:t>MODULE 4 • REGISTERS &amp;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B4B"/>
                </a:solidFill>
                <a:latin typeface="Aptos"/>
              </a:rPr>
              <a:t>Connect storage to the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07184"/>
                </a:solidFill>
                <a:latin typeface="Aptos"/>
              </a:rPr>
              <a:t>Instructions and data move through a hierarchy of storage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58368" cy="4572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184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8B"/>
                </a:solidFill>
                <a:latin typeface="Aptos"/>
              </a:rPr>
              <a:t>MEMORY HIERARCHY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3063240" cy="457200"/>
          </a:xfrm>
          <a:prstGeom prst="round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2478024"/>
            <a:ext cx="29900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Registers • fastest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971800"/>
            <a:ext cx="2514600" cy="457200"/>
          </a:xfrm>
          <a:prstGeom prst="roundRect">
            <a:avLst/>
          </a:prstGeom>
          <a:solidFill>
            <a:srgbClr val="2A5B8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3072384"/>
            <a:ext cx="24414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3566160"/>
            <a:ext cx="1965960" cy="457200"/>
          </a:xfrm>
          <a:prstGeom prst="roundRect">
            <a:avLst/>
          </a:prstGeom>
          <a:solidFill>
            <a:srgbClr val="DAA441"/>
          </a:solidFill>
          <a:ln>
            <a:solidFill>
              <a:srgbClr val="DA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53896" y="3666744"/>
            <a:ext cx="1892807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Main memory (RAM)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4160520"/>
            <a:ext cx="1417320" cy="457200"/>
          </a:xfrm>
          <a:prstGeom prst="roundRect">
            <a:avLst/>
          </a:prstGeom>
          <a:solidFill>
            <a:srgbClr val="607184"/>
          </a:solidFill>
          <a:ln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28216" y="426110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94560"/>
            <a:ext cx="2971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2194560"/>
            <a:ext cx="64008" cy="224028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2313432"/>
            <a:ext cx="265176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B4B"/>
                </a:solidFill>
                <a:latin typeface="Aptos"/>
              </a:rPr>
              <a:t>Register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79191"/>
            <a:ext cx="2651760" cy="1682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CPU registers hold values used by instructions and the ALU.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19456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0" y="2194560"/>
            <a:ext cx="64008" cy="2240280"/>
          </a:xfrm>
          <a:prstGeom prst="rect">
            <a:avLst/>
          </a:prstGeom>
          <a:solidFill>
            <a:srgbClr val="2A5B8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9" y="2313432"/>
            <a:ext cx="301752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B4B"/>
                </a:solidFill>
                <a:latin typeface="Aptos"/>
              </a:rPr>
              <a:t>Instruction &amp; data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679191"/>
            <a:ext cx="3017520" cy="1682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F3E"/>
                </a:solidFill>
                <a:latin typeface="Aptos"/>
              </a:rPr>
              <a:t>Instruction memory supplies instructions. RAM stores data. lw reads; sw writes.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54880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B4B"/>
                </a:solidFill>
                <a:latin typeface="Aptos"/>
              </a:rPr>
              <a:t>Design trade-offs: speed • capacity • cost • locality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424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07184"/>
                </a:solidFill>
                <a:latin typeface="Aptos"/>
              </a:rPr>
              <a:t>Von Neumann bottleneck: transfers between CPU and memory can limit performance.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46520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7184"/>
                </a:solidFill>
                <a:latin typeface="Aptos"/>
              </a:rPr>
              <a:t>DDCA • RISC-V CPU learning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8B"/>
                </a:solidFill>
                <a:latin typeface="Aptos"/>
              </a:rPr>
              <a:t>MODULE 5 • RISC-V ISA, DATAPATH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B4B"/>
                </a:solidFill>
                <a:latin typeface="Aptos"/>
              </a:rPr>
              <a:t>Explain how a program becomes CPU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07184"/>
                </a:solidFill>
                <a:latin typeface="Aptos"/>
              </a:rPr>
              <a:t>The ISA defines instructions; the datapath and control unit carry them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58368" cy="4572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07184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4008" cy="155448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01752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B4B"/>
                </a:solidFill>
                <a:latin typeface="Aptos"/>
              </a:rPr>
              <a:t>Instruction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3017520" cy="996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F3E"/>
                </a:solidFill>
                <a:latin typeface="Aptos"/>
              </a:rPr>
              <a:t>add, sub, and, or, slt, addi
lw, sw, beq, jal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64008" cy="1554480"/>
          </a:xfrm>
          <a:prstGeom prst="rect">
            <a:avLst/>
          </a:prstGeom>
          <a:solidFill>
            <a:srgbClr val="2A5B8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30552"/>
            <a:ext cx="301752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B4B"/>
                </a:solidFill>
                <a:latin typeface="Aptos"/>
              </a:rPr>
              <a:t>Instruction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96312"/>
            <a:ext cx="3017520" cy="996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F3E"/>
                </a:solidFill>
                <a:latin typeface="Aptos"/>
              </a:rPr>
              <a:t>R, I, S, B, U and J
Opcode, registers and immediate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0116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2011680"/>
            <a:ext cx="64008" cy="1554480"/>
          </a:xfrm>
          <a:prstGeom prst="rect">
            <a:avLst/>
          </a:prstGeom>
          <a:solidFill>
            <a:srgbClr val="DAA441"/>
          </a:solidFill>
          <a:ln>
            <a:solidFill>
              <a:srgbClr val="DA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2130552"/>
            <a:ext cx="301752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B4B"/>
                </a:solidFill>
                <a:latin typeface="Aptos"/>
              </a:rPr>
              <a:t>Execution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496312"/>
            <a:ext cx="3017520" cy="9966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F3E"/>
                </a:solidFill>
                <a:latin typeface="Aptos"/>
              </a:rPr>
              <a:t>Fetch → Decode → Execute → Memory → Write 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1417319" cy="502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B4B"/>
                </a:solidFill>
                <a:latin typeface="Aptos"/>
              </a:rPr>
              <a:t>PC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25196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4343400"/>
            <a:ext cx="1554480" cy="502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B4B"/>
                </a:solidFill>
                <a:latin typeface="Aptos"/>
              </a:rPr>
              <a:t>Instruction
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425196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A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4343400"/>
            <a:ext cx="1554480" cy="502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B4B"/>
                </a:solidFill>
                <a:latin typeface="Aptos"/>
              </a:rPr>
              <a:t>Register
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4251960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4343400"/>
            <a:ext cx="1280160" cy="502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B4B"/>
                </a:solidFill>
                <a:latin typeface="Aptos"/>
              </a:rPr>
              <a:t>ALU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425196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0" y="4343400"/>
            <a:ext cx="1508760" cy="502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2B4B"/>
                </a:solidFill>
                <a:latin typeface="Aptos"/>
              </a:rPr>
              <a:t>Data
Memory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468880" y="4443984"/>
            <a:ext cx="256032" cy="210312"/>
          </a:xfrm>
          <a:prstGeom prst="right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4526280" y="4443984"/>
            <a:ext cx="256032" cy="210312"/>
          </a:xfrm>
          <a:prstGeom prst="right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6629400" y="4443984"/>
            <a:ext cx="256032" cy="210312"/>
          </a:xfrm>
          <a:prstGeom prst="right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8503920" y="4443984"/>
            <a:ext cx="256032" cy="210312"/>
          </a:xfrm>
          <a:prstGeom prst="rightArrow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57800"/>
            <a:ext cx="9875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42B4B"/>
                </a:solidFill>
                <a:latin typeface="Aptos"/>
              </a:rPr>
              <a:t>Example:  add x3, x1, x2   →   x3 = x1 + x2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46520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07184"/>
                </a:solidFill>
                <a:latin typeface="Aptos"/>
              </a:rPr>
              <a:t>DDCA • RISC-V CPU learning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5669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EDBD6"/>
                </a:solidFill>
                <a:latin typeface="Aptos"/>
              </a:rPr>
              <a:t>MODULE 6 • BUILD, TEST &amp; EXTEND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57607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From a datapath
to a working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53492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AE5EF"/>
                </a:solidFill>
                <a:latin typeface="Aptos"/>
              </a:rPr>
              <a:t>Integrate the blocks, execute a real program in Ripes, and validate the design step by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DBD6"/>
                </a:solidFill>
                <a:latin typeface="Aptos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3154680"/>
            <a:ext cx="429768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Connect PC, instruction memory, register file, ALU, data memory and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13048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DBD6"/>
                </a:solidFill>
                <a:latin typeface="Aptos"/>
              </a:rPr>
              <a:t>EXTEND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813048"/>
            <a:ext cx="429768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Add XOR or a custom instruction; connect memory-mapped LEDs or a display.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71416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DBD6"/>
                </a:solidFill>
                <a:latin typeface="Aptos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471416"/>
            <a:ext cx="429768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Understand clock period, CPI, pipelining, cache and parallelism.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978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DBD6"/>
                </a:solidFill>
                <a:latin typeface="Aptos"/>
              </a:rPr>
              <a:t>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5129784"/>
            <a:ext cx="429768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Explore embedded systems, IoT, CMOS/VLSI and edge AI / TinyML.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005840"/>
            <a:ext cx="4526280" cy="4526280"/>
          </a:xfrm>
          <a:prstGeom prst="roundRect">
            <a:avLst/>
          </a:prstGeom>
          <a:solidFill>
            <a:srgbClr val="1E3D60"/>
          </a:solidFill>
          <a:ln>
            <a:solidFill>
              <a:srgbClr val="3F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1417320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EDBD6"/>
                </a:solidFill>
                <a:latin typeface="Aptos"/>
              </a:rPr>
              <a:t>CAPSTONE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874519"/>
            <a:ext cx="37033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 simulated RISC-V CPU that fetches, decodes and executes a real program.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337560"/>
            <a:ext cx="3703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AE5EF"/>
                </a:solidFill>
                <a:latin typeface="Aptos"/>
              </a:rPr>
              <a:t>Then extend it with simple I/O and verify its behavior with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EDBD6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5303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C0D2E2"/>
                </a:solidFill>
                <a:latin typeface="Aptos"/>
              </a:rPr>
              <a:t>DDCA • RISC-V CPU learning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763E85-C1BA-4653-FA10-8DE59111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895" y="1843902"/>
            <a:ext cx="8192210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B2CF4-5800-E36A-6F6F-59CBE005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56" y="811303"/>
            <a:ext cx="7483488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0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9026E-76A1-F536-A3D8-209335142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960" y="1962023"/>
            <a:ext cx="6226080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617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Sindhura</dc:creator>
  <cp:keywords/>
  <dc:description>generated using python-pptx</dc:description>
  <cp:lastModifiedBy>Neelam Jayasindhura</cp:lastModifiedBy>
  <cp:revision>2</cp:revision>
  <dcterms:created xsi:type="dcterms:W3CDTF">2013-01-27T09:14:16Z</dcterms:created>
  <dcterms:modified xsi:type="dcterms:W3CDTF">2026-10-15T04:45:31Z</dcterms:modified>
  <cp:category/>
</cp:coreProperties>
</file>