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7"/>
    <p:sldId id="257" r:id="rId6"/>
    <p:sldId id="258" r:id="rId5"/>
    <p:sldId id="259" r:id="rId4"/>
    <p:sldId id="260" r:id="rId3"/>
    <p:sldId id="261" r:id="rId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836F72-BC6B-4E3C-BEFC-C493408E9984}" v="2" dt="2026-08-28T09:57:57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CB98-6187-FBF8-CA8E-182F9DAFE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C7A92-AF04-C3C4-CCDF-67DD190D1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E3738-6832-181F-5CD1-3040032A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4D12E-C5BE-4609-18FE-C7636557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549CB-7C74-B903-3E0E-818BC663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97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59CA-D292-3777-0676-0C8B53DCB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4818F-53CE-0728-3710-E3DE741A2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7F5CD-1249-4179-B173-C9102208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40ADC-9EA5-79E9-4782-8C879EAB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C24CC-09E6-B437-D633-0E8443DD6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85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9DB6-2DEB-39AC-3E57-E55DCC69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40009-3D7B-E933-FE9E-5226D522C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FCE67-CE1B-E33E-31B3-57B3C4DC0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5CF22-42E5-27A3-B043-55C88386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3B426-49A0-71A4-E7EE-9E570A83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15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0AB4-915C-1867-D18D-B9576D61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FB005-FEAA-1ADB-0E76-9AA38654E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40425-9142-E9F4-37DD-7126956B4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E63F3-AFAF-F88A-6A88-76FDFBF6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49657-35F7-93C8-AB33-D63FAB61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ADB78-14A5-F29C-3911-2418B13C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39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986F9-DC04-5EFC-5A66-9F6E2E55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AE870-0692-7891-431F-A629C2E68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DDA50-7C0E-3054-D1A8-FA5C98B4E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EFE2B-CA86-9B20-2A0D-55481A861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72138-9213-4C8E-0815-89648B18F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45045F-1DA8-5458-920F-BCA82C37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95CAD7-C257-9F7A-1BD4-ED34F703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6DD27-2936-3D3D-4B11-84D90702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232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4D71-18D0-DBCB-BBB5-B5A2F8F6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2A22D-DEA6-DEF1-F9FD-20B94F205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77628-59D4-A24A-2432-F4788FD38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B5893-FD0D-8A40-BB37-8BB720E4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0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772EE-223E-24B2-50C0-9E61A26C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C725D-33D5-5145-E938-2E68201B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68BA4-F6C3-8574-952C-CA979E76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8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1A08-FE9E-D81B-409B-B23FB94F3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879D5-2550-2889-7D9E-30A592445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C7BF3-A194-5710-A06B-40CA1D510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641AA-44D8-7ED9-2A10-EEBEB6F35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BF271-C010-7A02-FDF5-BB8A78CC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4F19E-34DF-AD86-9719-28E75A0B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6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E8B7-2904-C6DC-AB1D-288D61F7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7075F-1107-B3F7-716D-3D4D43F0B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AB1BB-19A1-5279-ED2F-768B0C84F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FCD1F-4DBE-7571-A1FF-0D88206C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FB7CC-FEDB-8AAD-B2DF-6E9FB3B38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34556-88E3-F579-1247-B687493DA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5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EE75-8BE3-54A8-8DF9-ACB155B2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4AAA5-FE0B-0BE1-E031-C6CB704E4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B4247-4717-3A11-5EEB-625095343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26F23-EE4F-8783-FAEA-BFB3C6F6D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2E5D8-80ED-939A-EECA-B622F573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46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5737F9-E3DC-B3A5-765F-8C8F03660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74E7F-DD02-ABE2-BF94-A4347F0A4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FEDCC-2CCC-DD43-5A9F-1413A202B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D0ADC-49E5-9A60-3D0C-69377D9B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9B3D7-A791-0AE4-4171-7C94A556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401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47F9D-0732-12D3-2A89-5D0C9D37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8A0CD-6D2F-4C0E-8F28-B52E380FD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F2546-EE37-76FE-0849-5D83F9411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AAF8B-D091-4B6A-8574-A019C85EC8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02F8F-8E48-4E19-8087-0A21D872D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39A75-CF34-B549-8F35-4AEC175F1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19823-E365-4063-B8AA-17893A45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372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8274B"/>
                </a:solidFill>
              </a:defRPr>
            </a:pPr>
            <a:r>
              <a:t>4-Bit Binary-to-Decimal</a:t>
            </a:r>
          </a:p>
          <a:p>
            <a:pPr>
              <a:defRPr sz="3000">
                <a:solidFill>
                  <a:srgbClr val="2F67CD"/>
                </a:solidFill>
              </a:defRPr>
            </a:pPr>
            <a:r>
              <a:t>Conversion and Display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F6978"/>
                </a:solidFill>
              </a:defRPr>
            </a:pPr>
            <a:r>
              <a:t>Design • Logic • Simulation • 7-Segment Display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What the system is designed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3474720"/>
          </a:xfrm>
          <a:prstGeom prst="rect">
            <a:avLst/>
          </a:prstGeom>
          <a:solidFill>
            <a:srgbClr val="2F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3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971800" cy="2606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Accept a 4-bit binary number using four switches:</a:t>
            </a:r>
            <a:br/>
            <a:br/>
            <a:r>
              <a:t>B3  B2  B1  B0</a:t>
            </a:r>
            <a:br/>
            <a:br/>
            <a:r>
              <a:t>Range: 0000 to 1111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347472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3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2971800" cy="2606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Convert the 4-bit binary value into decimal digits.</a:t>
            </a:r>
            <a:br/>
            <a:br/>
            <a:r>
              <a:t>0–9 → one digit</a:t>
            </a:r>
            <a:br/>
            <a:r>
              <a:t>10–15 → two digits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73152" cy="3474720"/>
          </a:xfrm>
          <a:prstGeom prst="rect">
            <a:avLst/>
          </a:prstGeom>
          <a:solidFill>
            <a:srgbClr val="2F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9163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2971800" cy="2606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Show the decimal value using two 7-segment displays.</a:t>
            </a:r>
            <a:br/>
            <a:br/>
            <a:r>
              <a:t>Example:</a:t>
            </a:r>
            <a:br/>
            <a:r>
              <a:t>1011 → 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Simple block diagram of the complete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73152" cy="1828800"/>
          </a:xfrm>
          <a:prstGeom prst="rect">
            <a:avLst/>
          </a:prstGeom>
          <a:solidFill>
            <a:srgbClr val="2F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4-Bit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B3 B2 B1 B0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0312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2103120"/>
            <a:ext cx="73152" cy="18288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28600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Binary → BCD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788920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Conversion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10312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2103120"/>
            <a:ext cx="73152" cy="1828800"/>
          </a:xfrm>
          <a:prstGeom prst="rect">
            <a:avLst/>
          </a:prstGeom>
          <a:solidFill>
            <a:srgbClr val="2F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28600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BCD → 7-Segment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788920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Display drivers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210312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2103120"/>
            <a:ext cx="73152" cy="18288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228600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Decimal 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788920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Tens + Ones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743200" y="2651760"/>
            <a:ext cx="685800" cy="640080"/>
          </a:xfrm>
          <a:prstGeom prst="rightArrow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669280" y="2651760"/>
            <a:ext cx="685800" cy="640080"/>
          </a:xfrm>
          <a:prstGeom prst="rightArrow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595360" y="2651760"/>
            <a:ext cx="685800" cy="640080"/>
          </a:xfrm>
          <a:prstGeom prst="rightArrow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4-Bit Binary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Each switch represents one binary bit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1024127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5"/>
                <a:gridCol w="2048255"/>
                <a:gridCol w="2048255"/>
                <a:gridCol w="2048255"/>
                <a:gridCol w="2048255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B0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Decimal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32B37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715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F67CD"/>
                </a:solidFill>
              </a:defRPr>
            </a:pPr>
            <a:r>
              <a:t>Formula: Decimal = B3×8 + B2×4 + B1×2 + B0×1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Binary-to-BCD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The important step for displaying 10–15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73152" cy="4114800"/>
          </a:xfrm>
          <a:prstGeom prst="rect">
            <a:avLst/>
          </a:prstGeom>
          <a:solidFill>
            <a:srgbClr val="2F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39"/>
            <a:ext cx="4526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For 0 to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52628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0000 to 1001</a:t>
            </a:r>
            <a:br/>
            <a:br/>
            <a:r>
              <a:t>The value can be displayed as a single decimal digit.</a:t>
            </a:r>
            <a:br/>
            <a:br/>
            <a:r>
              <a:t>Example:</a:t>
            </a:r>
            <a:br/>
            <a:r>
              <a:t>1001₂ = 9₁₀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73152" cy="41148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39"/>
            <a:ext cx="4526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For 10 to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52628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1010 to 1111</a:t>
            </a:r>
            <a:br/>
            <a:br/>
            <a:r>
              <a:t>The value is split into:</a:t>
            </a:r>
            <a:br/>
            <a:r>
              <a:t>• Tens digit = 1</a:t>
            </a:r>
            <a:br/>
            <a:r>
              <a:t>• Ones digit = 0 to 5</a:t>
            </a:r>
            <a:br/>
            <a:br/>
            <a:r>
              <a:t>Example:</a:t>
            </a:r>
            <a:br/>
            <a:r>
              <a:t>1111₂ = 15₁₀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All possible 4-bit inputs and decimal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34440"/>
          <a:ext cx="103327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Decimal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Tens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Ones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5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B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Logic and Display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How the converted digits reach the 7-segment displays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• Use combinational logic or a binary-to-BCD converter block.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• Feed the BCD tens digit and BCD ones digit to display decoders.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• 7446/7447-type BCD-to-7-segment decoders can be used in hardware implementations.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• Each 7-segment display shows one decimal digit.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• Use current-limiting resistors (typically 220 Ω or 330 Ω) for LED segments in hardware.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Logisim-Evolution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Recommended for a simple first-year digital-logic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114800"/>
          </a:xfrm>
          <a:prstGeom prst="rect">
            <a:avLst/>
          </a:prstGeom>
          <a:solidFill>
            <a:srgbClr val="2F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1.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8803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Place four input switches.</a:t>
            </a:r>
            <a:br/>
            <a:br/>
            <a:r>
              <a:t>Label them B3, B2, B1, B0.</a:t>
            </a:r>
            <a:br/>
            <a:br/>
            <a:r>
              <a:t>Set each switch to 0 or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41148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002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2.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8803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Build the conversion section using logic gates / suitable converter blocks.</a:t>
            </a:r>
            <a:br/>
            <a:br/>
            <a:r>
              <a:t>Test each binary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4114800"/>
          </a:xfrm>
          <a:prstGeom prst="rect">
            <a:avLst/>
          </a:prstGeom>
          <a:solidFill>
            <a:srgbClr val="2F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002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3. Display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03120"/>
            <a:ext cx="28803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Connect BCD outputs to 7-segment display blocks.</a:t>
            </a:r>
            <a:br/>
            <a:br/>
            <a:r>
              <a:t>Check that 0000–1111 gives 00–15.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Example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One input, one conversion, one display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24688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73152" cy="3566160"/>
          </a:xfrm>
          <a:prstGeom prst="rect">
            <a:avLst/>
          </a:prstGeom>
          <a:solidFill>
            <a:srgbClr val="2F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002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03120"/>
            <a:ext cx="205740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B3 B2 B1 B0</a:t>
            </a:r>
            <a:br/>
            <a:br/>
            <a:r>
              <a:t>1   0   1   1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11880" y="2423160"/>
            <a:ext cx="914400" cy="731520"/>
          </a:xfrm>
          <a:prstGeom prst="rightArrow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1417320"/>
            <a:ext cx="24688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17320"/>
            <a:ext cx="73152" cy="356616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6002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03120"/>
            <a:ext cx="205740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1011₂</a:t>
            </a:r>
            <a:br/>
            <a:br/>
            <a:r>
              <a:t>= 11₁₀</a:t>
            </a:r>
            <a:br/>
            <a:br/>
            <a:r>
              <a:t>BCD = 0001 0001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06640" y="2423160"/>
            <a:ext cx="914400" cy="731520"/>
          </a:xfrm>
          <a:prstGeom prst="rightArrow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1417320"/>
            <a:ext cx="24688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1417320"/>
            <a:ext cx="73152" cy="3566160"/>
          </a:xfrm>
          <a:prstGeom prst="rect">
            <a:avLst/>
          </a:prstGeom>
          <a:solidFill>
            <a:srgbClr val="2F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6002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Display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103120"/>
            <a:ext cx="205740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Tens = 1</a:t>
            </a:r>
            <a:br/>
            <a:br/>
            <a:r>
              <a:t>Ones = 1</a:t>
            </a:r>
            <a:br/>
            <a:br/>
            <a:r>
              <a:t>Display: 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Verification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Check every possible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7"/>
                </a:solidFill>
              </a:defRPr>
            </a:pPr>
            <a:r>
              <a:t>• Toggle the four input switches through all values from 0000 to 1111.</a:t>
            </a:r>
          </a:p>
          <a:p>
            <a:pPr>
              <a:spcAft>
                <a:spcPts val="1200"/>
              </a:spcAft>
              <a:defRPr sz="1900">
                <a:solidFill>
                  <a:srgbClr val="232B37"/>
                </a:solidFill>
              </a:defRPr>
            </a:pPr>
            <a:r>
              <a:t>• Confirm 0000 to 1001 display 0 to 9 correctly.</a:t>
            </a:r>
          </a:p>
          <a:p>
            <a:pPr>
              <a:spcAft>
                <a:spcPts val="1200"/>
              </a:spcAft>
              <a:defRPr sz="1900">
                <a:solidFill>
                  <a:srgbClr val="232B37"/>
                </a:solidFill>
              </a:defRPr>
            </a:pPr>
            <a:r>
              <a:t>• Confirm 1010 to 1111 display 10 to 15 correctly.</a:t>
            </a:r>
          </a:p>
          <a:p>
            <a:pPr>
              <a:spcAft>
                <a:spcPts val="1200"/>
              </a:spcAft>
              <a:defRPr sz="1900">
                <a:solidFill>
                  <a:srgbClr val="232B37"/>
                </a:solidFill>
              </a:defRPr>
            </a:pPr>
            <a:r>
              <a:t>• Check that the tens display changes from 0 to 1 at decimal 10.</a:t>
            </a:r>
          </a:p>
          <a:p>
            <a:pPr>
              <a:spcAft>
                <a:spcPts val="1200"/>
              </a:spcAft>
              <a:defRPr sz="1900">
                <a:solidFill>
                  <a:srgbClr val="232B37"/>
                </a:solidFill>
              </a:defRPr>
            </a:pPr>
            <a:r>
              <a:t>• Record a few test cases as evidence of successful simulation.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Advantages 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Why this small circuit is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4023360"/>
          </a:xfrm>
          <a:prstGeom prst="rect">
            <a:avLst/>
          </a:prstGeom>
          <a:solidFill>
            <a:srgbClr val="2F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6177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• Simple digital-system example</a:t>
            </a:r>
            <a:br/>
            <a:r>
              <a:t>• Demonstrates binary representation</a:t>
            </a:r>
            <a:br/>
            <a:r>
              <a:t>• Uses combinational logic</a:t>
            </a:r>
            <a:br/>
            <a:r>
              <a:t>• Connects logic to a visual output</a:t>
            </a:r>
            <a:br/>
            <a:r>
              <a:t>• Easy to test in Logisim-Evolution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4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73152" cy="402336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45920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B"/>
                </a:solidFill>
              </a:defRPr>
            </a:pPr>
            <a:r>
              <a:t>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6177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</a:defRPr>
            </a:pPr>
            <a:r>
              <a:t>• Digital counters</a:t>
            </a:r>
            <a:br/>
            <a:r>
              <a:t>• Embedded displays</a:t>
            </a:r>
            <a:br/>
            <a:r>
              <a:t>• Measurement systems</a:t>
            </a:r>
            <a:br/>
            <a:r>
              <a:t>• Digital control panels</a:t>
            </a:r>
            <a:br/>
            <a:r>
              <a:t>• Learning and simulation of digital circuits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8274B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5468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2F67CD"/>
                </a:solidFill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492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Agency FB</vt:lpstr>
      <vt:lpstr>Algerian</vt:lpstr>
      <vt:lpstr>Aptos</vt:lpstr>
      <vt:lpstr>Aptos Display</vt:lpstr>
      <vt:lpstr>Arial</vt:lpstr>
      <vt:lpstr>Arial Narrow</vt:lpstr>
      <vt:lpstr>Office Theme</vt:lpstr>
      <vt:lpstr>PowerPoint Presentation</vt:lpstr>
      <vt:lpstr>System Architecture &amp; Design</vt:lpstr>
      <vt:lpstr>PowerPoint Presentation</vt:lpstr>
      <vt:lpstr>Simulation Steps (e.g., in Proteus or Multisim):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rajunsv92@outlook.com</dc:creator>
  <cp:lastModifiedBy>rajunsv92@outlook.com</cp:lastModifiedBy>
  <cp:revision>2</cp:revision>
  <dcterms:created xsi:type="dcterms:W3CDTF">2026-08-28T09:16:17Z</dcterms:created>
  <dcterms:modified xsi:type="dcterms:W3CDTF">2026-08-28T09:59:23Z</dcterms:modified>
</cp:coreProperties>
</file>